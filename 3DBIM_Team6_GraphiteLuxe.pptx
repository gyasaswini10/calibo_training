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377440"/>
            <a:ext cx="8823960" cy="3657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 |  PAYMENTS FRAUD OPERATIONS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Junior Analysts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DBIM to bridge the explainability gap in fraud review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3716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Business Innovation Methodology (DBIM)</a:t>
            </a:r>
            <a:endParaRPr lang="en-US" sz="10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Where clarity meets complexity — one transaction at a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Explainability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models flag thousands of transactions — analysts can't confidently interpret the outputs.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9748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4572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Flag Volume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transactions flagged daily — each needs a junior analyst to decide.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69748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45920"/>
            <a:ext cx="4572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Provided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see only a risk score and feature weights — no plain-language explanation.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69748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45920"/>
            <a:ext cx="4572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Bottleneck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reviews, inconsistent decisions, analyst burnout, and real fraud slipping through.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Consequences:  Inconsistent decisions  ·  Slow review cycles  ·  Escalating operational costs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When analysts can't explain, fraud wins. We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DBIM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DBIM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DBIM treats this as a business capability gap — not a technology problem.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5720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first; consult analysts later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model deployed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vague timelines; unclear ROI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scattered: IT vs Fraud Ops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420624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600200"/>
            <a:ext cx="45720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DBIM Approach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96596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validated first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hypothesis locked on Day 1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8–10 week sprints with checkpoints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squad owns the outcome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4231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62A"/>
                </a:solidFill>
              </a:rPr>
              <a:t>VS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DBIM enables: Use Case Bank · 8–10 week MVP sprints · Calibo Sandbox · Reusable explainability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Start with the business. The technology 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Bank &amp; Discovery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this been solved before? We searched first — then built.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292608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5720" cy="2926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Use Case Bank 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fraud explainability, XAI, model interpretability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exact match found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 in Retail — BFSI context made it distinct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Use Case created with goals, KPIs, scope &amp; feasibility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4206240" cy="292608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600200"/>
            <a:ext cx="45720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Discovery Phase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96596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persona: Junior Fraud Analyst (0–2 yrs)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Desired: plain-language explanation per transaction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Desired: historical comparable case context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retains full decision authority (Human-in-Loop)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BFSI asset in Marketplace → build &amp; publish new asset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Don't reinvent — rediscover, then build smarter.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 &amp; ICE Score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for strategic fit, value, and feasibility — then scored.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194560" cy="109728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0" y="1600200"/>
            <a:ext cx="2194560" cy="109728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984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2194560" cy="109728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0" y="2880360"/>
            <a:ext cx="2194560" cy="109728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264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212080" y="1600200"/>
            <a:ext cx="3566160" cy="2377440"/>
          </a:xfrm>
          <a:prstGeom prst="rect">
            <a:avLst/>
          </a:prstGeom>
          <a:solidFill>
            <a:srgbClr val="2222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340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fraud loss &amp; burnout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94960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51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2889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similar BFSI contexts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438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rebuild; Sandbox accelerates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0" y="4041648"/>
            <a:ext cx="35661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4041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= 9 × 7 × 6 = 378  →  HIGH PRIORITY  ✓  APPROVED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High impact. High confidence. Green light — 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Cross-Functional Squad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across business, data, and product domains — no silos.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74320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2A"/>
                </a:solidFill>
              </a:rPr>
              <a:t>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 Lakshmi Pravalika 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&amp; Business Analyst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discovery &amp; rationalization phases</a:t>
            </a:r>
            <a:endParaRPr lang="en-US" sz="900" dirty="0"/>
          </a:p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backlog in Calibo Agile board</a:t>
            </a:r>
            <a:endParaRPr lang="en-US" sz="900" dirty="0"/>
          </a:p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acceptance criteria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74320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916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2A"/>
                </a:solidFill>
              </a:rPr>
              <a:t>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Gurivi Reddy Yasaswini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 &amp; Lead Dev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FastAPI solution in Calibo Sandbox</a:t>
            </a:r>
            <a:endParaRPr lang="en-US" sz="900" dirty="0"/>
          </a:p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LLM-to-model integration API (Python)</a:t>
            </a:r>
            <a:endParaRPr lang="en-US" sz="900" dirty="0"/>
          </a:p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Jenkins; GDPR data masking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274320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2A"/>
                </a:solidFill>
              </a:rPr>
              <a:t>BT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Teja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&amp; Lead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55080" y="3200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fraud data pipelines</a:t>
            </a:r>
            <a:endParaRPr lang="en-US" sz="900" dirty="0"/>
          </a:p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comparable case context layer</a:t>
            </a:r>
            <a:endParaRPr lang="en-US" sz="900" dirty="0"/>
          </a:p>
          <a:p>
            <a:pPr marL="342900" indent="-342900">
              <a:buSzPct val="22223A"/>
              <a:buChar char="•"/>
            </a:pPr>
            <a:r>
              <a:rPr lang="en-US" sz="9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UAT &amp; pytest-based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No silos, no excuses — one squad, one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&amp; Requirements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functional, and governance specifications.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5720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in &lt;5 seconds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why flagged + top risk signals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NOT auto-block — analyst decides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reduce review time per transaction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9748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45720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transaction data + model output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explanation via FastAPI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historical comparable case context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rates explanation (helpful/not)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5176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00200"/>
            <a:ext cx="45720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Non-Functional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PII masked before LLM ingestion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Analyst vs Manager access tiers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every explanation &amp; decision</a:t>
            </a:r>
            <a:endParaRPr lang="en-US" sz="1000" dirty="0"/>
          </a:p>
          <a:p>
            <a:pPr marL="342900" indent="-342900">
              <a:buSzPct val="22223A"/>
              <a:buChar char="•"/>
            </a:pPr>
            <a:r>
              <a:rPr lang="en-US" sz="100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uptime · &lt;5s response SLA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Every requirement a safeguard. Every rule a reason.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Orchestration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DBIM workflow executed inside Calibo Digital Innovation Sandbox.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1965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700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baselined with Fraud Ops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&amp; stories on Calibo Agile board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defined and tracked from Day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6596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00200"/>
            <a:ext cx="19659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184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8960" y="1700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1488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workflow mapped end-to-end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LLM + plain JS architecture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masking flow designed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196596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00200"/>
            <a:ext cx="1965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184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57800" y="1700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1488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1–3: FastAPI + data pipeline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4–5: HTML/CSS/JS dashboard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triggered per sprint delivery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1600200"/>
            <a:ext cx="1965960" cy="3017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600200"/>
            <a:ext cx="1965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6184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1700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1488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in Calibo Sandbox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UAT: analysts validated over 2 weeks</a:t>
            </a:r>
            <a:endParaRPr lang="en-US" sz="950" dirty="0"/>
          </a:p>
          <a:p>
            <a:pPr marL="342900" indent="-342900">
              <a:buSzPct val="22223A"/>
              <a:buChar char="•"/>
            </a:pPr>
            <a:r>
              <a:rPr lang="en-US" sz="950" dirty="0">
                <a:solidFill>
                  <a:srgbClr val="C4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dashboards via Jenkins logs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Tools: Python · FastAPI · HTML/CSS/JS · Bitbucket · Jenkins · RBAC + Audit Logging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Explainer  ·  DBIM  ·  Team 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  <p:sp>
        <p:nvSpPr>
          <p:cNvPr id="9901" name="Tagline"/>
          <p:cNvSpPr>
            <a:spLocks noGrp="1"/>
          </p:cNvSpPr>
          <p:nvPr/>
        </p:nvSpPr>
        <p:spPr>
          <a:xfrm>
            <a:off x="457200" y="4800000"/>
            <a:ext cx="82296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 i="1" dirty="0">
                <a:solidFill>
                  <a:srgbClr val="7A7A9D"/>
                </a:solidFill>
              </a:rPr>
              <a:t>Defined. Designed. Developed. Deployed.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Pattern Explainer – DBIM</dc:title>
  <dc:subject>PptxGenJS Presentation</dc:subject>
  <dc:creator>PptxGenJS</dc:creator>
  <cp:lastModifiedBy>PptxGenJS</cp:lastModifiedBy>
  <cp:revision>1</cp:revision>
  <dcterms:created xsi:type="dcterms:W3CDTF">2026-05-31T04:25:14Z</dcterms:created>
  <dcterms:modified xsi:type="dcterms:W3CDTF">2026-05-31T04:25:14Z</dcterms:modified>
</cp:coreProperties>
</file>