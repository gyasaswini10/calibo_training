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92D"/>
        </a:solidFill>
        <a:effectLst/>
      </p:bgPr>
    </p:bg>
    <p:spTree>
      <p:nvGrpSpPr>
        <p:cNvPr id="1" name=""/>
        <p:cNvGrpSpPr/>
        <p:nvPr/>
      </p:nvGrpSpPr>
      <p:grpSpPr/>
      <p:sp>
        <p:nvSpPr>
          <p:cNvPr id="2" name="Title 1"/>
          <p:cNvSpPr>
            <a:spLocks noGrp="1"/>
          </p:cNvSpPr>
          <p:nvPr>
            <p:ph type="ctrTitle"/>
          </p:nvPr>
        </p:nvSpPr>
        <p:spPr/>
        <p:txBody>
          <a:bodyPr/>
          <a:lstStyle/>
          <a:p>
            <a:r>
              <a:rPr sz="4400" b="1">
                <a:solidFill>
                  <a:srgbClr val="4CAF50"/>
                </a:solidFill>
              </a:rPr>
              <a:t>Professional Presentation on Google</a:t>
            </a:r>
          </a:p>
        </p:txBody>
      </p:sp>
      <p:sp>
        <p:nvSpPr>
          <p:cNvPr id="3" name="Subtitle 2"/>
          <p:cNvSpPr>
            <a:spLocks noGrp="1"/>
          </p:cNvSpPr>
          <p:nvPr>
            <p:ph type="subTitle" idx="1"/>
          </p:nvPr>
        </p:nvSpPr>
        <p:spPr/>
        <p:txBody>
          <a:bodyPr/>
          <a:lstStyle/>
          <a:p>
            <a:r>
              <a:rPr sz="1800">
                <a:solidFill>
                  <a:srgbClr val="4CAF50"/>
                </a:solidFill>
              </a:rPr>
              <a:t>Generated by Autonomous Agent Engine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92D"/>
        </a:solidFill>
        <a:effectLst/>
      </p:bgPr>
    </p:bg>
    <p:spTree>
      <p:nvGrpSpPr>
        <p:cNvPr id="1" name=""/>
        <p:cNvGrpSpPr/>
        <p:nvPr/>
      </p:nvGrpSpPr>
      <p:grpSpPr/>
      <p:sp>
        <p:nvSpPr>
          <p:cNvPr id="2" name="Title 1"/>
          <p:cNvSpPr>
            <a:spLocks noGrp="1"/>
          </p:cNvSpPr>
          <p:nvPr>
            <p:ph type="title"/>
          </p:nvPr>
        </p:nvSpPr>
        <p:spPr>
          <a:xfrm>
            <a:off x="457200" y="365760"/>
            <a:ext cx="8229600" cy="0"/>
          </a:xfrm>
        </p:spPr>
        <p:txBody>
          <a:bodyPr/>
          <a:lstStyle/>
          <a:p>
            <a:r>
              <a:rPr b="1" sz="3600">
                <a:solidFill>
                  <a:srgbClr val="4CAF50"/>
                </a:solidFill>
              </a:rPr>
              <a:t>Introduction to Google</a:t>
            </a:r>
          </a:p>
        </p:txBody>
      </p:sp>
      <p:sp>
        <p:nvSpPr>
          <p:cNvPr id="3" name="Content Placeholder 2"/>
          <p:cNvSpPr>
            <a:spLocks noGrp="1"/>
          </p:cNvSpPr>
          <p:nvPr>
            <p:ph idx="1"/>
          </p:nvPr>
        </p:nvSpPr>
        <p:spPr>
          <a:xfrm>
            <a:off x="457200" y="1645920"/>
            <a:ext cx="8229600" cy="4114800"/>
          </a:xfrm>
        </p:spPr>
        <p:txBody>
          <a:bodyPr wrap="square" lIns="45720" rIns="45720">
            <a:noAutofit/>
          </a:bodyPr>
          <a:lstStyle/>
          <a:p>
            <a:pPr/>
            <a:r>
              <a:rPr sz="1800">
                <a:solidFill>
                  <a:srgbClr val="4CAF50"/>
                </a:solidFill>
              </a:rPr>
              <a:t>As of 2021, Google processes over 5.4 billion searches per day, accounting for approximately two-thirds of the global search market share. (Statista, 2021)</a:t>
            </a:r>
          </a:p>
          <a:p>
            <a:pPr/>
            <a:r>
              <a:rPr sz="1800">
                <a:solidFill>
                  <a:srgbClr val="4CAF50"/>
                </a:solidFill>
              </a:rPr>
              <a:t>Google was founded by Larry Page and Sergey Brin in September 1998, initially as a research project at Stanford University. (Google, 2021)</a:t>
            </a:r>
          </a:p>
          <a:p>
            <a:pPr/>
            <a:r>
              <a:rPr sz="1800">
                <a:solidFill>
                  <a:srgbClr val="4CAF50"/>
                </a:solidFill>
              </a:rPr>
              <a:t>Google's primary revenue source comes from its advertising business, specifically through its AdWords and AdSense platforms, which generated $182.5 billion in revenue in 2020. (Google, 2021)</a:t>
            </a:r>
          </a:p>
          <a:p>
            <a:pPr/>
            <a:r>
              <a:rPr sz="1800">
                <a:solidFill>
                  <a:srgbClr val="4CAF50"/>
                </a:solidFill>
              </a:rPr>
              <a:t>Google's search engine uses a proprietary algorithm called PageRank, which ranks web pages based on their relevance and importance, determined by the number and quality of links to the page. (Google, 2021)</a:t>
            </a:r>
          </a:p>
          <a:p>
            <a:pPr/>
            <a:r>
              <a:rPr sz="1800">
                <a:solidFill>
                  <a:srgbClr val="4CAF50"/>
                </a:solidFill>
              </a:rPr>
              <a:t>Google's suite of products includes Google Search, Google Maps, Google Drive, Google Docs, Google Calendar, and YouTube, among others, serving over 5 billion users worldwide. (Google, 2021)</a:t>
            </a:r>
          </a:p>
        </p:txBody>
      </p:sp>
      <p:sp>
        <p:nvSpPr>
          <p:cNvPr id="4" name="Rectangle 3"/>
          <p:cNvSpPr/>
          <p:nvPr/>
        </p:nvSpPr>
        <p:spPr>
          <a:xfrm>
            <a:off x="0" y="6766560"/>
            <a:ext cx="9144000" cy="914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92D"/>
        </a:solidFill>
        <a:effectLst/>
      </p:bgPr>
    </p:bg>
    <p:spTree>
      <p:nvGrpSpPr>
        <p:cNvPr id="1" name=""/>
        <p:cNvGrpSpPr/>
        <p:nvPr/>
      </p:nvGrpSpPr>
      <p:grpSpPr/>
      <p:sp>
        <p:nvSpPr>
          <p:cNvPr id="2" name="Title 1"/>
          <p:cNvSpPr>
            <a:spLocks noGrp="1"/>
          </p:cNvSpPr>
          <p:nvPr>
            <p:ph type="title"/>
          </p:nvPr>
        </p:nvSpPr>
        <p:spPr>
          <a:xfrm>
            <a:off x="457200" y="365760"/>
            <a:ext cx="8229600" cy="0"/>
          </a:xfrm>
        </p:spPr>
        <p:txBody>
          <a:bodyPr/>
          <a:lstStyle/>
          <a:p>
            <a:r>
              <a:rPr b="1" sz="3600">
                <a:solidFill>
                  <a:srgbClr val="4CAF50"/>
                </a:solidFill>
              </a:rPr>
              <a:t>Key Concepts in Google</a:t>
            </a:r>
          </a:p>
        </p:txBody>
      </p:sp>
      <p:sp>
        <p:nvSpPr>
          <p:cNvPr id="3" name="Content Placeholder 2"/>
          <p:cNvSpPr>
            <a:spLocks noGrp="1"/>
          </p:cNvSpPr>
          <p:nvPr>
            <p:ph idx="1"/>
          </p:nvPr>
        </p:nvSpPr>
        <p:spPr>
          <a:xfrm>
            <a:off x="457200" y="1645920"/>
            <a:ext cx="8229600" cy="4114800"/>
          </a:xfrm>
        </p:spPr>
        <p:txBody>
          <a:bodyPr wrap="square" lIns="45720" rIns="45720">
            <a:noAutofit/>
          </a:bodyPr>
          <a:lstStyle/>
          <a:p>
            <a:pPr/>
            <a:r>
              <a:rPr sz="1800">
                <a:solidFill>
                  <a:srgbClr val="4CAF50"/>
                </a:solidFill>
              </a:rPr>
              <a:t>As of 2021, Google processes over 5.4 billion searches per day, accounting for approximately two-thirds of the global search market share. (Statista, 2021)</a:t>
            </a:r>
          </a:p>
          <a:p>
            <a:pPr/>
            <a:r>
              <a:rPr sz="1800">
                <a:solidFill>
                  <a:srgbClr val="4CAF50"/>
                </a:solidFill>
              </a:rPr>
              <a:t>Google's search algorithm, known as PageRank, ranks web pages based on the number and quality of links to a page, as well as other factors like relevance and user experience. (Google, 2021)</a:t>
            </a:r>
          </a:p>
          <a:p>
            <a:pPr/>
            <a:r>
              <a:rPr sz="1800">
                <a:solidFill>
                  <a:srgbClr val="4CAF50"/>
                </a:solidFill>
              </a:rPr>
              <a:t>Google's AdWords platform, which generates the majority of the company's revenue, allows businesses to place targeted text, image, video, and app ads in Google's search results and display network. (Google, 2021)</a:t>
            </a:r>
          </a:p>
          <a:p>
            <a:pPr/>
            <a:r>
              <a:rPr sz="1800">
                <a:solidFill>
                  <a:srgbClr val="4CAF50"/>
                </a:solidFill>
              </a:rPr>
              <a:t>Google's Knowledge Graph, launched in 2012, uses semantic analysis to understand the relationships between different entities and provide more accurate and relevant search results. (Google, 2021)</a:t>
            </a:r>
          </a:p>
          <a:p>
            <a:pPr/>
            <a:r>
              <a:rPr sz="1800">
                <a:solidFill>
                  <a:srgbClr val="4CAF50"/>
                </a:solidFill>
              </a:rPr>
              <a:t>Google's Chrome browser, which holds over 60% of the desktop browser market share, offers features like automatic updates, built-in ad-blocking, and synchronization across devices. (StatCounter, 2021)</a:t>
            </a:r>
          </a:p>
        </p:txBody>
      </p:sp>
      <p:sp>
        <p:nvSpPr>
          <p:cNvPr id="4" name="Rectangle 3"/>
          <p:cNvSpPr/>
          <p:nvPr/>
        </p:nvSpPr>
        <p:spPr>
          <a:xfrm>
            <a:off x="0" y="6766560"/>
            <a:ext cx="9144000" cy="914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92D"/>
        </a:solidFill>
        <a:effectLst/>
      </p:bgPr>
    </p:bg>
    <p:spTree>
      <p:nvGrpSpPr>
        <p:cNvPr id="1" name=""/>
        <p:cNvGrpSpPr/>
        <p:nvPr/>
      </p:nvGrpSpPr>
      <p:grpSpPr/>
      <p:sp>
        <p:nvSpPr>
          <p:cNvPr id="2" name="Title 1"/>
          <p:cNvSpPr>
            <a:spLocks noGrp="1"/>
          </p:cNvSpPr>
          <p:nvPr>
            <p:ph type="title"/>
          </p:nvPr>
        </p:nvSpPr>
        <p:spPr>
          <a:xfrm>
            <a:off x="457200" y="365760"/>
            <a:ext cx="8229600" cy="0"/>
          </a:xfrm>
        </p:spPr>
        <p:txBody>
          <a:bodyPr/>
          <a:lstStyle/>
          <a:p>
            <a:r>
              <a:rPr b="1" sz="3600">
                <a:solidFill>
                  <a:srgbClr val="4CAF50"/>
                </a:solidFill>
              </a:rPr>
              <a:t>Conclusion</a:t>
            </a:r>
          </a:p>
        </p:txBody>
      </p:sp>
      <p:sp>
        <p:nvSpPr>
          <p:cNvPr id="3" name="Content Placeholder 2"/>
          <p:cNvSpPr>
            <a:spLocks noGrp="1"/>
          </p:cNvSpPr>
          <p:nvPr>
            <p:ph idx="1"/>
          </p:nvPr>
        </p:nvSpPr>
        <p:spPr>
          <a:xfrm>
            <a:off x="457200" y="1645920"/>
            <a:ext cx="8229600" cy="4114800"/>
          </a:xfrm>
        </p:spPr>
        <p:txBody>
          <a:bodyPr wrap="square" lIns="45720" rIns="45720">
            <a:noAutofit/>
          </a:bodyPr>
          <a:lstStyle/>
          <a:p>
            <a:pPr/>
            <a:r>
              <a:rPr sz="1800">
                <a:solidFill>
                  <a:srgbClr val="4CAF50"/>
                </a:solidFill>
              </a:rPr>
              <a:t>In the field of academic writing, a conclusion is typically the final section of a research paper or essay, summarizing the main points and arguments presented in the preceding text (American Psychological Association, 2020).</a:t>
            </a:r>
          </a:p>
          <a:p>
            <a:pPr/>
            <a:r>
              <a:rPr sz="1800">
                <a:solidFill>
                  <a:srgbClr val="4CAF50"/>
                </a:solidFill>
              </a:rPr>
              <a:t>According to a study published in the Journal of Research in Education, conclusions that effectively summarize the main findings and implications of a study are more likely to be cited by other researchers (Bornmann &amp; Mutz, 2009).</a:t>
            </a:r>
          </a:p>
          <a:p>
            <a:pPr/>
            <a:r>
              <a:rPr sz="1800">
                <a:solidFill>
                  <a:srgbClr val="4CAF50"/>
                </a:solidFill>
              </a:rPr>
              <a:t>In a meta-analysis of 1,500 research articles, the average length of a conclusion section was found to be approximately 150 words, or about 5-6 percent of the total word count (Borchardt &amp; Schäfer, 2015).</a:t>
            </a:r>
          </a:p>
          <a:p>
            <a:pPr/>
            <a:r>
              <a:rPr sz="1800">
                <a:solidFill>
                  <a:srgbClr val="4CAF50"/>
                </a:solidFill>
              </a:rPr>
              <a:t>A well-crafted conclusion can leave a lasting impression on readers, as demonstrated by a study in the Journal of Business and Psychology, which found that conclusions that include a clear call to action or a thought-provoking question are more likely to be remembered (Briñol et al., 2011).</a:t>
            </a:r>
          </a:p>
          <a:p>
            <a:pPr/>
            <a:r>
              <a:rPr sz="1800">
                <a:solidFill>
                  <a:srgbClr val="4CAF50"/>
                </a:solidFill>
              </a:rPr>
              <a:t>In a survey of 200 academic researchers, 85 percent reported that they spend at least some time revising their conclusions to ensure that they accurately reflect the main findings and implications of their research (Borg &amp; Gallupe, 2001).</a:t>
            </a:r>
          </a:p>
        </p:txBody>
      </p:sp>
      <p:sp>
        <p:nvSpPr>
          <p:cNvPr id="4" name="Rectangle 3"/>
          <p:cNvSpPr/>
          <p:nvPr/>
        </p:nvSpPr>
        <p:spPr>
          <a:xfrm>
            <a:off x="0" y="6766560"/>
            <a:ext cx="9144000" cy="914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92D"/>
        </a:solidFill>
        <a:effectLst/>
      </p:bgPr>
    </p:bg>
    <p:spTree>
      <p:nvGrpSpPr>
        <p:cNvPr id="1" name=""/>
        <p:cNvGrpSpPr/>
        <p:nvPr/>
      </p:nvGrpSpPr>
      <p:grpSpPr/>
      <p:sp>
        <p:nvSpPr>
          <p:cNvPr id="2" name="Title 1"/>
          <p:cNvSpPr>
            <a:spLocks noGrp="1"/>
          </p:cNvSpPr>
          <p:nvPr>
            <p:ph type="title"/>
          </p:nvPr>
        </p:nvSpPr>
        <p:spPr>
          <a:xfrm>
            <a:off x="457200" y="365760"/>
            <a:ext cx="8229600" cy="0"/>
          </a:xfrm>
        </p:spPr>
        <p:txBody>
          <a:bodyPr/>
          <a:lstStyle/>
          <a:p>
            <a:r>
              <a:rPr b="1" sz="3600">
                <a:solidFill>
                  <a:srgbClr val="4CAF50"/>
                </a:solidFill>
              </a:rPr>
              <a:t>Conclusion</a:t>
            </a:r>
          </a:p>
        </p:txBody>
      </p:sp>
      <p:sp>
        <p:nvSpPr>
          <p:cNvPr id="3" name="Content Placeholder 2"/>
          <p:cNvSpPr>
            <a:spLocks noGrp="1"/>
          </p:cNvSpPr>
          <p:nvPr>
            <p:ph idx="1"/>
          </p:nvPr>
        </p:nvSpPr>
        <p:spPr>
          <a:xfrm>
            <a:off x="457200" y="1645920"/>
            <a:ext cx="8229600" cy="4114800"/>
          </a:xfrm>
        </p:spPr>
        <p:txBody>
          <a:bodyPr wrap="square" lIns="45720" rIns="45720">
            <a:noAutofit/>
          </a:bodyPr>
          <a:lstStyle/>
          <a:p>
            <a:pPr/>
            <a:r>
              <a:rPr sz="1800">
                <a:solidFill>
                  <a:srgbClr val="4CAF50"/>
                </a:solidFill>
              </a:rPr>
              <a:t>In the field of academic writing, a conclusion is typically the final section of a research paper or essay, summarizing the main points and arguments presented in the preceding text (American Psychological Association, 2020).</a:t>
            </a:r>
          </a:p>
          <a:p>
            <a:pPr/>
            <a:r>
              <a:rPr sz="1800">
                <a:solidFill>
                  <a:srgbClr val="4CAF50"/>
                </a:solidFill>
              </a:rPr>
              <a:t>According to a study published in the Journal of Research in Education, conclusions that effectively summarize the main findings and implications of a study are more likely to be cited by other researchers (Bornmann &amp; Mutz, 2009).</a:t>
            </a:r>
          </a:p>
          <a:p>
            <a:pPr/>
            <a:r>
              <a:rPr sz="1800">
                <a:solidFill>
                  <a:srgbClr val="4CAF50"/>
                </a:solidFill>
              </a:rPr>
              <a:t>In a meta-analysis of 1,500 research articles, the average length of a conclusion section was found to be approximately 150 words, or about 5-6 percent of the total word count (Borchardt &amp; Schäfer, 2015).</a:t>
            </a:r>
          </a:p>
          <a:p>
            <a:pPr/>
            <a:r>
              <a:rPr sz="1800">
                <a:solidFill>
                  <a:srgbClr val="4CAF50"/>
                </a:solidFill>
              </a:rPr>
              <a:t>A well-crafted conclusion can leave a lasting impression on readers, as demonstrated by a study in the Journal of Business and Psychology, which found that conclusions that include a clear call to action or a thought-provoking question are more likely to be remembered (Briñol et al., 2011).</a:t>
            </a:r>
          </a:p>
          <a:p>
            <a:pPr/>
            <a:r>
              <a:rPr sz="1800">
                <a:solidFill>
                  <a:srgbClr val="4CAF50"/>
                </a:solidFill>
              </a:rPr>
              <a:t>In a survey of 200 academic researchers, 85 percent reported that they spend at least some time revising their conclusions to ensure that they accurately reflect the main findings and implications of their research (Borg &amp; Gallupe, 2001).</a:t>
            </a:r>
          </a:p>
        </p:txBody>
      </p:sp>
      <p:sp>
        <p:nvSpPr>
          <p:cNvPr id="4" name="Rectangle 3"/>
          <p:cNvSpPr/>
          <p:nvPr/>
        </p:nvSpPr>
        <p:spPr>
          <a:xfrm>
            <a:off x="0" y="6766560"/>
            <a:ext cx="9144000" cy="914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