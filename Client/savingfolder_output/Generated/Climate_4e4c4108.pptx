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ctrTitle"/>
          </p:nvPr>
        </p:nvSpPr>
        <p:spPr/>
        <p:txBody>
          <a:bodyPr/>
          <a:lstStyle/>
          <a:p>
            <a:r>
              <a:rPr sz="4400" b="1">
                <a:solidFill>
                  <a:srgbClr val="4CAF50"/>
                </a:solidFill>
              </a:rPr>
              <a:t>Professional Presentation on Climate</a:t>
            </a:r>
          </a:p>
        </p:txBody>
      </p:sp>
      <p:sp>
        <p:nvSpPr>
          <p:cNvPr id="3" name="Subtitle 2"/>
          <p:cNvSpPr>
            <a:spLocks noGrp="1"/>
          </p:cNvSpPr>
          <p:nvPr>
            <p:ph type="subTitle" idx="1"/>
          </p:nvPr>
        </p:nvSpPr>
        <p:spPr/>
        <p:txBody>
          <a:bodyPr/>
          <a:lstStyle/>
          <a:p>
            <a:r>
              <a:rPr sz="1800">
                <a:solidFill>
                  <a:srgbClr val="4CAF50"/>
                </a:solidFill>
              </a:rPr>
              <a:t>Generated by Autonomous Agent Engine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Introduction to Climate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Global surface temperature anomalies from NASA indicate a 1.2°C increase relative to the 1850–1900 pre-industrial baseline, with the past decade (2013–2022) being the warmest on record.</a:t>
            </a:r>
          </a:p>
          <a:p>
            <a:pPr/>
            <a:r>
              <a:rPr sz="1800">
                <a:solidFill>
                  <a:srgbClr val="4CAF50"/>
                </a:solidFill>
              </a:rPr>
              <a:t>Atmospheric CO₂ concentration, as measured at Mauna Loa, reached an annual average of 420 ppm in 2023, a level unseen for at least 3 million years according to ice core proxy data.</a:t>
            </a:r>
          </a:p>
          <a:p>
            <a:pPr/>
            <a:r>
              <a:rPr sz="1800">
                <a:solidFill>
                  <a:srgbClr val="4CAF50"/>
                </a:solidFill>
              </a:rPr>
              <a:t>Earth's energy imbalance, calculated from satellite and ocean heat content data, averaged +0.6 W/m² for the 2001–2020 period, primarily driven by increased anthropogenic greenhouse gases.</a:t>
            </a:r>
          </a:p>
          <a:p>
            <a:pPr/>
            <a:r>
              <a:rPr sz="1800">
                <a:solidFill>
                  <a:srgbClr val="4CAF50"/>
                </a:solidFill>
              </a:rPr>
              <a:t>Ocean heat content in the upper 700 meters increased by approximately 23 zettajoules (10²² J) per decade between 1993 and 2020, per NOAA analyses, accounting for over 90% of excess planetary heat.</a:t>
            </a:r>
          </a:p>
          <a:p>
            <a:pPr/>
            <a:r>
              <a:rPr sz="1800">
                <a:solidFill>
                  <a:srgbClr val="4CAF50"/>
                </a:solidFill>
              </a:rPr>
              <a:t>Arctic sea ice extent has declined by 13% per decade relative to the 1981–2010 average during the September minimum, based on a linear trend from 1979–2023 passive microwave satellite records.</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Key Concepts in Climate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Atmospheric CO2 concentration averaged 419.3 ppm in 2023, 50% higher than pre-industrial levels of 280 ppm, with the annual increase rate accelerating to 2.5 ppm/year over the last decade.</a:t>
            </a:r>
          </a:p>
          <a:p>
            <a:pPr/>
            <a:r>
              <a:rPr sz="1800">
                <a:solidFill>
                  <a:srgbClr val="4CAF50"/>
                </a:solidFill>
              </a:rPr>
              <a:t>The IPCC AR6 attributes 1.1°C of observed global warming (1850-1900 to 2011-2020) to anthropogenic forcing, with a best-estimate equilibrium climate sensitivity of 3.0°C for a doubling of CO2.</a:t>
            </a:r>
          </a:p>
          <a:p>
            <a:pPr/>
            <a:r>
              <a:rPr sz="1800">
                <a:solidFill>
                  <a:srgbClr val="4CAF50"/>
                </a:solidFill>
              </a:rPr>
              <a:t>Ocean heat content (0-2000m) increased by 24±5 ZJ per decade from 1993-2020, accounting for over 90% of the excess energy in the Earth system from global heating.</a:t>
            </a:r>
          </a:p>
          <a:p>
            <a:pPr/>
            <a:r>
              <a:rPr sz="1800">
                <a:solidFill>
                  <a:srgbClr val="4CAF50"/>
                </a:solidFill>
              </a:rPr>
              <a:t>Radiative forcing from well-mixed greenhouse gases reached 3.0 W/m² in 2019 relative to 1750, with CO2 contributing 2.16 W/m²—the largest single forcing agent.</a:t>
            </a:r>
          </a:p>
          <a:p>
            <a:pPr/>
            <a:r>
              <a:rPr sz="1800">
                <a:solidFill>
                  <a:srgbClr val="4CAF50"/>
                </a:solidFill>
              </a:rPr>
              <a:t>The Atlantic Meridional Overturning Circulation (AMOC) has weakened by 3±1 Sv (15±5%) since the mid-20th century, with a slowdown risk threshold estimated at a 30-45% reduction from pre-industrial strength.</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92D"/>
        </a:solidFill>
        <a:effectLst/>
      </p:bgPr>
    </p:bg>
    <p:spTree>
      <p:nvGrpSpPr>
        <p:cNvPr id="1" name=""/>
        <p:cNvGrpSpPr/>
        <p:nvPr/>
      </p:nvGrpSpPr>
      <p:grpSpPr/>
      <p:sp>
        <p:nvSpPr>
          <p:cNvPr id="2" name="Title 1"/>
          <p:cNvSpPr>
            <a:spLocks noGrp="1"/>
          </p:cNvSpPr>
          <p:nvPr>
            <p:ph type="title"/>
          </p:nvPr>
        </p:nvSpPr>
        <p:spPr>
          <a:xfrm>
            <a:off x="457200" y="365760"/>
            <a:ext cx="8229600" cy="0"/>
          </a:xfrm>
        </p:spPr>
        <p:txBody>
          <a:bodyPr/>
          <a:lstStyle/>
          <a:p>
            <a:r>
              <a:rPr b="1" sz="3600">
                <a:solidFill>
                  <a:srgbClr val="4CAF50"/>
                </a:solidFill>
              </a:rPr>
              <a:t>Conclusion: Climate</a:t>
            </a:r>
          </a:p>
        </p:txBody>
      </p:sp>
      <p:sp>
        <p:nvSpPr>
          <p:cNvPr id="3" name="Content Placeholder 2"/>
          <p:cNvSpPr>
            <a:spLocks noGrp="1"/>
          </p:cNvSpPr>
          <p:nvPr>
            <p:ph idx="1"/>
          </p:nvPr>
        </p:nvSpPr>
        <p:spPr>
          <a:xfrm>
            <a:off x="457200" y="1645920"/>
            <a:ext cx="8686800" cy="4114800"/>
          </a:xfrm>
        </p:spPr>
        <p:txBody>
          <a:bodyPr wrap="square" lIns="45720" rIns="45720">
            <a:noAutofit/>
          </a:bodyPr>
          <a:lstStyle/>
          <a:p>
            <a:pPr/>
            <a:r>
              <a:rPr sz="1800">
                <a:solidFill>
                  <a:srgbClr val="4CAF50"/>
                </a:solidFill>
              </a:rPr>
              <a:t>Observed global surface temperature rise of 1.1°C above 1850–1900 levels is unequivocally driven by anthropogenic greenhouse gas emissions, with the past decade (2011–2020) being the warmest on record.</a:t>
            </a:r>
          </a:p>
          <a:p>
            <a:pPr/>
            <a:r>
              <a:rPr sz="1800">
                <a:solidFill>
                  <a:srgbClr val="4CAF50"/>
                </a:solidFill>
              </a:rPr>
              <a:t>Ocean heat content has increased at an accelerating rate, with the upper 2000 meters absorbing over 25 zettajoules of energy per decade since the 1990s, driving thermal expansion contributing over 30% to observed sea-level rise.</a:t>
            </a:r>
          </a:p>
          <a:p>
            <a:pPr/>
            <a:r>
              <a:rPr sz="1800">
                <a:solidFill>
                  <a:srgbClr val="4CAF50"/>
                </a:solidFill>
              </a:rPr>
              <a:t>The Greenland and Antarctic ice sheets lost an average of 279 and 150 billion metric tons of ice per year, respectively, over the 2010–2019 decade, a seven-fold and five-fold increase from the 1990s, directly elevating global mean sea level.</a:t>
            </a:r>
          </a:p>
          <a:p>
            <a:pPr/>
            <a:r>
              <a:rPr sz="1800">
                <a:solidFill>
                  <a:srgbClr val="4CAF50"/>
                </a:solidFill>
              </a:rPr>
              <a:t>Global mean sea level rose at 4.62 mm/year over 2013–2022, more than double the 1993–2002 rate, with thermal expansion and ice sheet melt now the dominant contributors, surpassing glacier mass loss.</a:t>
            </a:r>
          </a:p>
          <a:p>
            <a:pPr/>
            <a:r>
              <a:rPr sz="1800">
                <a:solidFill>
                  <a:srgbClr val="4CAF50"/>
                </a:solidFill>
              </a:rPr>
              <a:t>The remaining carbon budget for a 50% likelihood of staying below 1.5°C of warming is approximately 380 GtCO₂ as of 2023, which at 2022 emission rates would be exhausted in under nine years without immediate, deep, and sustained cuts.</a:t>
            </a:r>
          </a:p>
        </p:txBody>
      </p:sp>
      <p:sp>
        <p:nvSpPr>
          <p:cNvPr id="4" name="Rectangle 3"/>
          <p:cNvSpPr/>
          <p:nvPr/>
        </p:nvSpPr>
        <p:spPr>
          <a:xfrm>
            <a:off x="0" y="6766560"/>
            <a:ext cx="9144000" cy="9144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