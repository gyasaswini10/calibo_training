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ctrTitle"/>
          </p:nvPr>
        </p:nvSpPr>
        <p:spPr/>
        <p:txBody>
          <a:bodyPr/>
          <a:lstStyle/>
          <a:p>
            <a:r>
              <a:rPr sz="4400" b="1">
                <a:solidFill>
                  <a:srgbClr val="4CAF50"/>
                </a:solidFill>
              </a:rPr>
              <a:t>Professional Presentation on Space</a:t>
            </a:r>
          </a:p>
        </p:txBody>
      </p:sp>
      <p:sp>
        <p:nvSpPr>
          <p:cNvPr id="3" name="Subtitle 2"/>
          <p:cNvSpPr>
            <a:spLocks noGrp="1"/>
          </p:cNvSpPr>
          <p:nvPr>
            <p:ph type="subTitle" idx="1"/>
          </p:nvPr>
        </p:nvSpPr>
        <p:spPr/>
        <p:txBody>
          <a:bodyPr/>
          <a:lstStyle/>
          <a:p>
            <a:r>
              <a:rPr sz="1800">
                <a:solidFill>
                  <a:srgbClr val="4CAF50"/>
                </a:solidFill>
              </a:rPr>
              <a:t>Generated by Autonomous Agent Engine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title"/>
          </p:nvPr>
        </p:nvSpPr>
        <p:spPr>
          <a:xfrm>
            <a:off x="457200" y="365760"/>
            <a:ext cx="8229600" cy="0"/>
          </a:xfrm>
        </p:spPr>
        <p:txBody>
          <a:bodyPr/>
          <a:lstStyle/>
          <a:p>
            <a:r>
              <a:rPr b="1" sz="3600">
                <a:solidFill>
                  <a:srgbClr val="4CAF50"/>
                </a:solidFill>
              </a:rPr>
              <a:t>Introduction to Space</a:t>
            </a:r>
          </a:p>
        </p:txBody>
      </p:sp>
      <p:sp>
        <p:nvSpPr>
          <p:cNvPr id="3" name="Content Placeholder 2"/>
          <p:cNvSpPr>
            <a:spLocks noGrp="1"/>
          </p:cNvSpPr>
          <p:nvPr>
            <p:ph idx="1"/>
          </p:nvPr>
        </p:nvSpPr>
        <p:spPr>
          <a:xfrm>
            <a:off x="457200" y="1645920"/>
            <a:ext cx="8686800" cy="4114800"/>
          </a:xfrm>
        </p:spPr>
        <p:txBody>
          <a:bodyPr wrap="square" lIns="45720" rIns="45720">
            <a:noAutofit/>
          </a:bodyPr>
          <a:lstStyle/>
          <a:p>
            <a:pPr/>
            <a:r>
              <a:rPr sz="1800">
                <a:solidFill>
                  <a:srgbClr val="4CAF50"/>
                </a:solidFill>
              </a:rPr>
              <a:t>The universe is estimated to be 93 billion light-years in diameter, containing over 2 trillion galaxies, each with hundreds of billions of stars.</a:t>
            </a:r>
          </a:p>
          <a:p>
            <a:pPr/>
            <a:r>
              <a:rPr sz="1800">
                <a:solidFill>
                  <a:srgbClr val="4CAF50"/>
                </a:solidFill>
              </a:rPr>
              <a:t>Space is a vacuum, meaning it contains no molecules or atoms, but is filled with various forms of electromagnetic radiation, such as cosmic microwave background radiation.</a:t>
            </a:r>
          </a:p>
          <a:p>
            <a:pPr/>
            <a:r>
              <a:rPr sz="1800">
                <a:solidFill>
                  <a:srgbClr val="4CAF50"/>
                </a:solidFill>
              </a:rPr>
              <a:t>The temperature in space varies greatly, with an average temperature of 2.7 Kelvin, but reaching temperatures up to billions of degrees in the cores of stars and dropping to near absolute zero in the coldest regions of space.</a:t>
            </a:r>
          </a:p>
          <a:p>
            <a:pPr/>
            <a:r>
              <a:rPr sz="1800">
                <a:solidFill>
                  <a:srgbClr val="4CAF50"/>
                </a:solidFill>
              </a:rPr>
              <a:t>The study of space and the physical universe is called astronomy, which encompasses disciplines such as astrophysics, planetary science, and astrobiology.</a:t>
            </a:r>
          </a:p>
          <a:p>
            <a:pPr/>
            <a:r>
              <a:rPr sz="1800">
                <a:solidFill>
                  <a:srgbClr val="4CAF50"/>
                </a:solidFill>
              </a:rPr>
              <a:t>The first artificial satellite, Sputnik 1, was launched by the Soviet Union on October 4, 1957, marking the beginning of the space age.</a:t>
            </a:r>
          </a:p>
        </p:txBody>
      </p:sp>
      <p:sp>
        <p:nvSpPr>
          <p:cNvPr id="4" name="Rectangle 3"/>
          <p:cNvSpPr/>
          <p:nvPr/>
        </p:nvSpPr>
        <p:spPr>
          <a:xfrm>
            <a:off x="0" y="6766560"/>
            <a:ext cx="9144000" cy="914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title"/>
          </p:nvPr>
        </p:nvSpPr>
        <p:spPr>
          <a:xfrm>
            <a:off x="457200" y="365760"/>
            <a:ext cx="8229600" cy="0"/>
          </a:xfrm>
        </p:spPr>
        <p:txBody>
          <a:bodyPr/>
          <a:lstStyle/>
          <a:p>
            <a:r>
              <a:rPr b="1" sz="3600">
                <a:solidFill>
                  <a:srgbClr val="4CAF50"/>
                </a:solidFill>
              </a:rPr>
              <a:t>Conclusion: Space</a:t>
            </a:r>
          </a:p>
        </p:txBody>
      </p:sp>
      <p:sp>
        <p:nvSpPr>
          <p:cNvPr id="3" name="Content Placeholder 2"/>
          <p:cNvSpPr>
            <a:spLocks noGrp="1"/>
          </p:cNvSpPr>
          <p:nvPr>
            <p:ph idx="1"/>
          </p:nvPr>
        </p:nvSpPr>
        <p:spPr>
          <a:xfrm>
            <a:off x="457200" y="1645920"/>
            <a:ext cx="8686800" cy="4114800"/>
          </a:xfrm>
        </p:spPr>
        <p:txBody>
          <a:bodyPr wrap="square" lIns="45720" rIns="45720">
            <a:noAutofit/>
          </a:bodyPr>
          <a:lstStyle/>
          <a:p>
            <a:pPr/>
            <a:r>
              <a:rPr sz="1800">
                <a:solidFill>
                  <a:srgbClr val="4CAF50"/>
                </a:solidFill>
              </a:rPr>
              <a:t>The observable universe is estimated to be 93 billion light-years in diameter, containing over 2 trillion galaxies, each with hundreds of billions of stars.</a:t>
            </a:r>
          </a:p>
          <a:p>
            <a:pPr/>
            <a:r>
              <a:rPr sz="1800">
                <a:solidFill>
                  <a:srgbClr val="4CAF50"/>
                </a:solidFill>
              </a:rPr>
              <a:t>The largest structure discovered in the universe is the cosmic web, a network of gas filaments that connect galaxies, spanning billions of light-years.</a:t>
            </a:r>
          </a:p>
          <a:p>
            <a:pPr/>
            <a:r>
              <a:rPr sz="1800">
                <a:solidFill>
                  <a:srgbClr val="4CAF50"/>
                </a:solidFill>
              </a:rPr>
              <a:t>Dark energy, estimated to account for approximately 68% of the universe's total energy content, is causing the expansion of the universe to accelerate at an increasing rate.</a:t>
            </a:r>
          </a:p>
          <a:p>
            <a:pPr/>
            <a:r>
              <a:rPr sz="1800">
                <a:solidFill>
                  <a:srgbClr val="4CAF50"/>
                </a:solidFill>
              </a:rPr>
              <a:t>The most abundant element in the universe is hydrogen, making up about 71% of all elemental matter, followed by helium at 24%.</a:t>
            </a:r>
          </a:p>
          <a:p>
            <a:pPr/>
            <a:r>
              <a:rPr sz="1800">
                <a:solidFill>
                  <a:srgbClr val="4CAF50"/>
                </a:solidFill>
              </a:rPr>
              <a:t>The temperature of the cosmic microwave background radiation, the afterglow of the Big Bang, is a near-uniform 2.725 degrees Kelvin.</a:t>
            </a:r>
          </a:p>
        </p:txBody>
      </p:sp>
      <p:sp>
        <p:nvSpPr>
          <p:cNvPr id="4" name="Rectangle 3"/>
          <p:cNvSpPr/>
          <p:nvPr/>
        </p:nvSpPr>
        <p:spPr>
          <a:xfrm>
            <a:off x="0" y="6766560"/>
            <a:ext cx="9144000" cy="914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