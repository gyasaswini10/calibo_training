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l8SDplVwBlTlwOzqlLS0xbMEz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583680" y="0"/>
            <a:ext cx="560527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502920" y="731520"/>
            <a:ext cx="45720" cy="5029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9628745" y="-537280"/>
            <a:ext cx="2560200" cy="2560200"/>
          </a:xfrm>
          <a:prstGeom prst="ellipse">
            <a:avLst/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0544975" y="1737345"/>
            <a:ext cx="2011800" cy="2011800"/>
          </a:xfrm>
          <a:prstGeom prst="ellipse">
            <a:avLst/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13232" y="804672"/>
            <a:ext cx="5669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DBIM IN ACTION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13232" y="1234440"/>
            <a:ext cx="57606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Fraud</a:t>
            </a:r>
            <a:br>
              <a:rPr b="1" i="0" lang="en-US" sz="5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br>
              <a:rPr b="1" i="0" lang="en-US" sz="5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Explainer</a:t>
            </a:r>
            <a:endParaRPr b="1" i="0" sz="5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Junior</a:t>
            </a:r>
            <a:endParaRPr b="1" sz="5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Analysts</a:t>
            </a:r>
            <a:endParaRPr b="1" sz="5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13232" y="6236208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BFSI  ·  </a:t>
            </a:r>
            <a:r>
              <a:rPr lang="en-US" sz="1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FraudReasoner</a:t>
            </a: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·  Team 6</a:t>
            </a:r>
            <a:endParaRPr sz="2100"/>
          </a:p>
        </p:txBody>
      </p:sp>
      <p:sp>
        <p:nvSpPr>
          <p:cNvPr id="91" name="Google Shape;91;p1"/>
          <p:cNvSpPr txBox="1"/>
          <p:nvPr/>
        </p:nvSpPr>
        <p:spPr>
          <a:xfrm>
            <a:off x="6949440" y="1737360"/>
            <a:ext cx="50292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Applying Calibo's Digital Business</a:t>
            </a:r>
            <a:br>
              <a:rPr b="0" i="0" lang="en-US" sz="1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Innovation Methodology to build an</a:t>
            </a:r>
            <a:br>
              <a:rPr b="0" i="0" lang="en-US" sz="1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AI-assisted fraud review tool.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6949440" y="3657600"/>
            <a:ext cx="457200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949440" y="3840480"/>
            <a:ext cx="5029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we approached a business problem</a:t>
            </a:r>
            <a:b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 writing a single line of code.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949440" y="5328847"/>
            <a:ext cx="5029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Ega Lakshmi Pravalika  </a:t>
            </a:r>
            <a:endParaRPr b="0" i="0" sz="16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Goriparthi Bhanu Teja  </a:t>
            </a:r>
            <a:endParaRPr b="0" i="0" sz="16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Gurivi Reddy Yasaswini</a:t>
            </a:r>
            <a:endParaRPr sz="1600"/>
          </a:p>
        </p:txBody>
      </p:sp>
      <p:sp>
        <p:nvSpPr>
          <p:cNvPr id="95" name="Google Shape;95;p1"/>
          <p:cNvSpPr txBox="1"/>
          <p:nvPr/>
        </p:nvSpPr>
        <p:spPr>
          <a:xfrm>
            <a:off x="6949440" y="6126475"/>
            <a:ext cx="5029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Calibo AI Academy  · 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57200" y="320040"/>
            <a:ext cx="4572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21792" y="338328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BUSINESS CONTEXT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658368" y="777240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landscape junior analysts work in every day.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457200" y="1417320"/>
            <a:ext cx="3566160" cy="3200400"/>
          </a:xfrm>
          <a:prstGeom prst="rect">
            <a:avLst/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57200" y="1417320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58368" y="1600200"/>
            <a:ext cx="3154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Payments fraud</a:t>
            </a:r>
            <a:b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costs $485B+</a:t>
            </a:r>
            <a:b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globally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658368" y="2907792"/>
            <a:ext cx="315468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58368" y="3017520"/>
            <a:ext cx="31546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problem is massive. Every analyst feels it.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4187952" y="1417320"/>
            <a:ext cx="3566160" cy="32004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187952" y="1417320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4389120" y="1600200"/>
            <a:ext cx="3154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Thousands of</a:t>
            </a:r>
            <a:b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transactions flagged</a:t>
            </a:r>
            <a:b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daily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4389120" y="2907792"/>
            <a:ext cx="315468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4389120" y="3017520"/>
            <a:ext cx="31546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queue never stops. Every flag is a decision.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7918704" y="1417320"/>
            <a:ext cx="3566160" cy="32004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7918704" y="1417320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119872" y="1600200"/>
            <a:ext cx="3154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Junior analysts</a:t>
            </a:r>
            <a:b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own most of</a:t>
            </a:r>
            <a:b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review queue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8119872" y="2907792"/>
            <a:ext cx="315468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8119872" y="3017520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They carry the load </a:t>
            </a:r>
            <a:r>
              <a:rPr lang="en-US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with the least context.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57200" y="6309360"/>
            <a:ext cx="1124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* $485B is an illustrative estimate. To be validated with industry sources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11100000" y="6450000"/>
            <a:ext cx="8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457200" y="320040"/>
            <a:ext cx="4572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621792" y="338328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PROBLEM STATEMENT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457200" y="77724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Before DBIM, we asked:</a:t>
            </a:r>
            <a:br>
              <a:rPr b="1" i="0" lang="en-US" sz="2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exact problem are we solving?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457200" y="1755648"/>
            <a:ext cx="11247120" cy="1481328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57200" y="1755648"/>
            <a:ext cx="54864" cy="14813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658368" y="1874519"/>
            <a:ext cx="10789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Junior fraud analysts at a payments company review hundreds of model-flagged</a:t>
            </a:r>
            <a:b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transactions daily but spend 5–8 minutes per flag with no consistent outcome —</a:t>
            </a:r>
            <a:b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because they see a risk score and nothing else.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57200" y="3474720"/>
            <a:ext cx="3520440" cy="24688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57200" y="3474720"/>
            <a:ext cx="35204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640080" y="3593592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No explanation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640080" y="4041648"/>
            <a:ext cx="314553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model outputs a number. It never says why.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4187952" y="3474720"/>
            <a:ext cx="3520440" cy="24688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4187952" y="3474720"/>
            <a:ext cx="35204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4370832" y="3593592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No comparables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4370832" y="4041648"/>
            <a:ext cx="314553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Is this pattern common? Rare? Analysts have no reference.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7918704" y="3474720"/>
            <a:ext cx="3520440" cy="24688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918704" y="3474720"/>
            <a:ext cx="35204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8101583" y="3593592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No confidence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8101583" y="4041648"/>
            <a:ext cx="314553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Without context, junior analysts guess, delay, or escalate everything.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457200" y="6236208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Clarity is the missing feature in most fraud tools.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11100000" y="6450000"/>
            <a:ext cx="8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457200" y="320040"/>
            <a:ext cx="4572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621792" y="338328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DBIM DISCIPLINE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658368" y="7772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 questions we answered before writing a single line of code.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457200" y="14356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457200" y="1463040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987552" y="14173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is the business outcome?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987552" y="169164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Analyst review time under 2 minutes. Fewer escalations. Better fraud catch rate.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457200" y="2075688"/>
            <a:ext cx="11247120" cy="13716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57200" y="22219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457200" y="2249424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987552" y="22037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exact problem causes that outcome to suffer?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987552" y="2478024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Analysts spend 5–8 min per flag with no explanation — and still make inconsistent calls.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457200" y="2862072"/>
            <a:ext cx="11247120" cy="13716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457200" y="3035808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987552" y="299008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does success look like in numbers?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987552" y="326440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Decision time &lt; 2 min. Analyst satisfaction &gt; 80%. Zero auto-blocks by AI. Ever.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457200" y="3648456"/>
            <a:ext cx="11247120" cy="13716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457200" y="379475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457200" y="3822191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987552" y="3776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 we have the data? Is AI the right tool?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987552" y="4050791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Yes. NeurIPS BAF + PaySim datasets confirmed. AI role: explain only. Model scores.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7200" y="4434840"/>
            <a:ext cx="11247120" cy="13716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457200" y="458114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457200" y="4608576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Q5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987552" y="456285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is the simplest version that proves this works?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987552" y="4837176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transaction in → risk score + plain-language explanation + comparable case stat out.</a:t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457200" y="5221224"/>
            <a:ext cx="11247120" cy="13716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457200" y="6263640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No code starts until every question has an owner.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1100000" y="6450000"/>
            <a:ext cx="8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>
            <a:off x="457200" y="320040"/>
            <a:ext cx="4572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621792" y="338328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APPROACH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457200" y="7772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DBIM — not a traditional project?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457200" y="1572768"/>
            <a:ext cx="5285232" cy="461772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57200" y="1572768"/>
            <a:ext cx="5285232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685800" y="1664208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WITHOUT DBIM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40080" y="2203703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822959" y="2103120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Pick the AI tool first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640080" y="2642615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822959" y="2542032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 — then ask what problem it solves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640080" y="3081527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822959" y="2980944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Success = project go-live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640080" y="3520439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822959" y="3419856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Business waits while IT builds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640080" y="3959352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822959" y="3858768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Long timelines, vague ROI</a:t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640080" y="4398264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2959" y="4297680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Output: a demo nobody uses</a:t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6263640" y="1572768"/>
            <a:ext cx="5440680" cy="4617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263640" y="1572768"/>
            <a:ext cx="5440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6492240" y="1664208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WITH DBIM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6446520" y="2203703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6629400" y="2103120"/>
            <a:ext cx="5074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Business outcome defined first</a:t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446520" y="2642615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6629400" y="2542032"/>
            <a:ext cx="5074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KPIs agreed before code is written</a:t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6446520" y="3081527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6629400" y="2980944"/>
            <a:ext cx="5074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Success = measurable value delivered</a:t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6446520" y="352043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6629400" y="3419856"/>
            <a:ext cx="5074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Cross-functional squad, shared ownership</a:t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6446520" y="395935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6629400" y="3858768"/>
            <a:ext cx="507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8–10 sprint cycles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6446520" y="439826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6629400" y="4297680"/>
            <a:ext cx="5074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Output: a product analysts trust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5669280" y="3657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457200" y="6400000"/>
            <a:ext cx="9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Innovation begins with discipline, not disruption.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11100000" y="6450000"/>
            <a:ext cx="8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"/>
          <p:cNvSpPr/>
          <p:nvPr/>
        </p:nvSpPr>
        <p:spPr>
          <a:xfrm>
            <a:off x="457200" y="320040"/>
            <a:ext cx="4572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621792" y="338328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USE CASE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457200" y="804672"/>
            <a:ext cx="1124712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457200" y="804672"/>
            <a:ext cx="54864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685800" y="914400"/>
            <a:ext cx="10744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Give junior fraud analysts the context to make confident decisions —</a:t>
            </a:r>
            <a:b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without replacing their judgment.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457200" y="2788920"/>
            <a:ext cx="3566160" cy="333756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57200" y="2788920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658368" y="2944368"/>
            <a:ext cx="31546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b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658368" y="3886200"/>
            <a:ext cx="315468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658368" y="4005072"/>
            <a:ext cx="31546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Faster, more accurate reviews.</a:t>
            </a:r>
            <a:b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Fewer escalations.</a:t>
            </a:r>
            <a:b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Junior analysts grow their own judgment.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4187952" y="2788920"/>
            <a:ext cx="3566160" cy="333756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4187952" y="2788920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4389120" y="2944368"/>
            <a:ext cx="31546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b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4389120" y="3886200"/>
            <a:ext cx="315468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4389120" y="4005072"/>
            <a:ext cx="3154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Analysts understand why a transaction</a:t>
            </a:r>
            <a:b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was flagged </a:t>
            </a:r>
            <a:r>
              <a:rPr lang="en-US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not just that it was.</a:t>
            </a:r>
            <a:b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Context builds confidence over time.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7918704" y="2788920"/>
            <a:ext cx="3566160" cy="333756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7918704" y="2788920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8119872" y="2944368"/>
            <a:ext cx="31546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Role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8119872" y="3886200"/>
            <a:ext cx="315468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8119872" y="4005072"/>
            <a:ext cx="31546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AI explains.</a:t>
            </a:r>
            <a:b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 never scores independently.</a:t>
            </a:r>
            <a:b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 never blocks automatically.</a:t>
            </a:r>
            <a:b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human always decides.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457200" y="6400000"/>
            <a:ext cx="9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explains. Analysts decide. Always.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11100000" y="6450000"/>
            <a:ext cx="8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/>
          <p:nvPr/>
        </p:nvSpPr>
        <p:spPr>
          <a:xfrm>
            <a:off x="457200" y="320040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57200" y="320040"/>
            <a:ext cx="4572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621792" y="347472"/>
            <a:ext cx="21762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PHASE 01  —  DISCOVERY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457200" y="8686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did we find when we looked at the real problem?</a:t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57200" y="1600200"/>
            <a:ext cx="5486400" cy="1901952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457200" y="1600200"/>
            <a:ext cx="548640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640080" y="17099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queue is unmanageable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640080" y="2130552"/>
            <a:ext cx="51206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Fraud flags arrive faster than analysts can review them. Every decision carries time pressure.</a:t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6355080" y="1600200"/>
            <a:ext cx="5486400" cy="19019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355080" y="1600200"/>
            <a:ext cx="548640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6537960" y="17099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model is not the problem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6537960" y="2130552"/>
            <a:ext cx="51206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detection model works. It scores accurately. But it only speaks numbers. Analysts need language.</a:t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457200" y="3767328"/>
            <a:ext cx="5486400" cy="1901952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457200" y="3767328"/>
            <a:ext cx="548640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640080" y="3877056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Junior analysts are the majority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640080" y="4297680"/>
            <a:ext cx="51206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Most review queues are staffed by junior analysts. They lack experience to push back on a confident-sounding score.</a:t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6355080" y="3767328"/>
            <a:ext cx="5486400" cy="19019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6355080" y="3767328"/>
            <a:ext cx="548640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6537960" y="3877056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data exists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6537960" y="4297680"/>
            <a:ext cx="51206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NeurIPS 2022 Bank Account Fraud dataset and PaySim provide labelled transaction data. The raw material is confirmed.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457200" y="6263640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problem was hiding in plain sight — in the queue.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11100000" y="6450000"/>
            <a:ext cx="8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/>
          <p:nvPr/>
        </p:nvSpPr>
        <p:spPr>
          <a:xfrm>
            <a:off x="457200" y="320040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57200" y="320040"/>
            <a:ext cx="4572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621792" y="347472"/>
            <a:ext cx="374903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PHASES 02 + 03  —  RATIONALIZE &amp; PRIORITIZE</a:t>
            </a:r>
            <a:endParaRPr/>
          </a:p>
        </p:txBody>
      </p:sp>
      <p:sp>
        <p:nvSpPr>
          <p:cNvPr id="277" name="Google Shape;277;p8"/>
          <p:cNvSpPr txBox="1"/>
          <p:nvPr/>
        </p:nvSpPr>
        <p:spPr>
          <a:xfrm>
            <a:off x="457200" y="896112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Is this use case worth building? How do we know?</a:t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457200" y="1572768"/>
            <a:ext cx="5349240" cy="43708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57200" y="1572768"/>
            <a:ext cx="45720" cy="43708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658368" y="166420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RATIONALIZE — Is the value real?</a:t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621792" y="225856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804672" y="2157984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Business impact is high — fraud decisions affect real money daily</a:t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621792" y="273405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804672" y="2633472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 is appropriate — explanation is what language models do best</a:t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621792" y="320954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804672" y="3108960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Human oversight preserved — analyst always makes the final call</a:t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621792" y="368503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804672" y="3584448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Risk of automation bias identified — safeguards designed in from Day 1</a:t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621792" y="416052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804672" y="4059936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Data quality confirmed — labelled datasets with fraud ground truth exist</a:t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6382512" y="1572768"/>
            <a:ext cx="5349240" cy="4370832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6382512" y="1572768"/>
            <a:ext cx="45720" cy="43708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6565392" y="166420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PRIORITIZE — Does it score high?</a:t>
            </a:r>
            <a:endParaRPr/>
          </a:p>
        </p:txBody>
      </p:sp>
      <p:sp>
        <p:nvSpPr>
          <p:cNvPr id="294" name="Google Shape;294;p8"/>
          <p:cNvSpPr txBox="1"/>
          <p:nvPr/>
        </p:nvSpPr>
        <p:spPr>
          <a:xfrm>
            <a:off x="6565392" y="217627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6565392" y="2450591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★★★★★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6565392" y="2724912"/>
            <a:ext cx="4937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Daily volume, real consequences</a:t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6565392" y="2999232"/>
            <a:ext cx="4956048" cy="18288"/>
          </a:xfrm>
          <a:prstGeom prst="rect">
            <a:avLst/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6565392" y="3136391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/>
          </a:p>
        </p:txBody>
      </p:sp>
      <p:sp>
        <p:nvSpPr>
          <p:cNvPr id="299" name="Google Shape;299;p8"/>
          <p:cNvSpPr txBox="1"/>
          <p:nvPr/>
        </p:nvSpPr>
        <p:spPr>
          <a:xfrm>
            <a:off x="6565392" y="3410711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★★★★☆</a:t>
            </a:r>
            <a:endParaRPr/>
          </a:p>
        </p:txBody>
      </p:sp>
      <p:sp>
        <p:nvSpPr>
          <p:cNvPr id="300" name="Google Shape;300;p8"/>
          <p:cNvSpPr txBox="1"/>
          <p:nvPr/>
        </p:nvSpPr>
        <p:spPr>
          <a:xfrm>
            <a:off x="6565392" y="3685031"/>
            <a:ext cx="4937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exists, tools available</a:t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6565392" y="3959352"/>
            <a:ext cx="4956048" cy="18288"/>
          </a:xfrm>
          <a:prstGeom prst="rect">
            <a:avLst/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6565392" y="4096511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Analyst value</a:t>
            </a:r>
            <a:endParaRPr/>
          </a:p>
        </p:txBody>
      </p:sp>
      <p:sp>
        <p:nvSpPr>
          <p:cNvPr id="303" name="Google Shape;303;p8"/>
          <p:cNvSpPr txBox="1"/>
          <p:nvPr/>
        </p:nvSpPr>
        <p:spPr>
          <a:xfrm>
            <a:off x="6565392" y="4370831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★★★★★</a:t>
            </a:r>
            <a:endParaRPr/>
          </a:p>
        </p:txBody>
      </p:sp>
      <p:sp>
        <p:nvSpPr>
          <p:cNvPr id="304" name="Google Shape;304;p8"/>
          <p:cNvSpPr txBox="1"/>
          <p:nvPr/>
        </p:nvSpPr>
        <p:spPr>
          <a:xfrm>
            <a:off x="6565392" y="4645151"/>
            <a:ext cx="4937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 skill-building, not replacement</a:t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6565392" y="4919472"/>
            <a:ext cx="4956048" cy="18288"/>
          </a:xfrm>
          <a:prstGeom prst="rect">
            <a:avLst/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6565392" y="5056631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Reuse potential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6565392" y="5330951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★★★★☆</a:t>
            </a:r>
            <a:endParaRPr/>
          </a:p>
        </p:txBody>
      </p:sp>
      <p:sp>
        <p:nvSpPr>
          <p:cNvPr id="308" name="Google Shape;308;p8"/>
          <p:cNvSpPr txBox="1"/>
          <p:nvPr/>
        </p:nvSpPr>
        <p:spPr>
          <a:xfrm>
            <a:off x="6565392" y="5605271"/>
            <a:ext cx="4937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Pattern usable across BFSI domains</a:t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6565392" y="5879592"/>
            <a:ext cx="4956048" cy="18288"/>
          </a:xfrm>
          <a:prstGeom prst="rect">
            <a:avLst/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457200" y="6236208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Build only what earns its place on the backlog.</a:t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11100000" y="6450000"/>
            <a:ext cx="8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/>
          <p:nvPr/>
        </p:nvSpPr>
        <p:spPr>
          <a:xfrm>
            <a:off x="457200" y="320040"/>
            <a:ext cx="4572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621792" y="338328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VALUE HYPOTHESIS &amp; KPIs</a:t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457200" y="804672"/>
            <a:ext cx="11247120" cy="141732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457200" y="804672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685800" y="914400"/>
            <a:ext cx="10789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If junior analysts receive a plain-language explanation + comparable case context,</a:t>
            </a:r>
            <a:b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they will make faster, more accurate decisions — building judgment, not dependency.</a:t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457200" y="2468880"/>
            <a:ext cx="2651760" cy="2487168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57200" y="2468880"/>
            <a:ext cx="26517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 txBox="1"/>
          <p:nvPr/>
        </p:nvSpPr>
        <p:spPr>
          <a:xfrm>
            <a:off x="566928" y="2578608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&lt; 2 min</a:t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621792" y="3493008"/>
            <a:ext cx="2304288" cy="27432"/>
          </a:xfrm>
          <a:prstGeom prst="rect">
            <a:avLst/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566928" y="3611880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Target decision time</a:t>
            </a:r>
            <a:b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per flagged transaction</a:t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3273552" y="2468880"/>
            <a:ext cx="2651760" cy="2487168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273552" y="2468880"/>
            <a:ext cx="26517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 txBox="1"/>
          <p:nvPr/>
        </p:nvSpPr>
        <p:spPr>
          <a:xfrm>
            <a:off x="3383280" y="2578608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&gt; 80%</a:t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3438144" y="3493008"/>
            <a:ext cx="2304288" cy="27432"/>
          </a:xfrm>
          <a:prstGeom prst="rect">
            <a:avLst/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3383280" y="3611880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Analyst satisfaction</a:t>
            </a:r>
            <a:b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with AI explanations</a:t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6089904" y="2468880"/>
            <a:ext cx="2651760" cy="2487168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089904" y="2468880"/>
            <a:ext cx="26517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 txBox="1"/>
          <p:nvPr/>
        </p:nvSpPr>
        <p:spPr>
          <a:xfrm>
            <a:off x="6199632" y="2578608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6254496" y="3493008"/>
            <a:ext cx="2304288" cy="27432"/>
          </a:xfrm>
          <a:prstGeom prst="rect">
            <a:avLst/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 txBox="1"/>
          <p:nvPr/>
        </p:nvSpPr>
        <p:spPr>
          <a:xfrm>
            <a:off x="6199632" y="3611880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Auto-blocks by AI.</a:t>
            </a:r>
            <a:b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Human decides — always.</a:t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8906256" y="2468880"/>
            <a:ext cx="2651760" cy="2487168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8906256" y="2468880"/>
            <a:ext cx="26517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 txBox="1"/>
          <p:nvPr/>
        </p:nvSpPr>
        <p:spPr>
          <a:xfrm>
            <a:off x="9015984" y="2578608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8–10 wks</a:t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9070848" y="3493008"/>
            <a:ext cx="2304288" cy="27432"/>
          </a:xfrm>
          <a:prstGeom prst="rect">
            <a:avLst/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 txBox="1"/>
          <p:nvPr/>
        </p:nvSpPr>
        <p:spPr>
          <a:xfrm>
            <a:off x="9015984" y="3611880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Full sprint:</a:t>
            </a:r>
            <a:b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concept to live product.</a:t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457200" y="5193792"/>
            <a:ext cx="11247120" cy="1115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 txBox="1"/>
          <p:nvPr/>
        </p:nvSpPr>
        <p:spPr>
          <a:xfrm>
            <a:off x="685800" y="528523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DBIM Reusable Assets this use case produces</a:t>
            </a:r>
            <a:endParaRPr/>
          </a:p>
        </p:txBody>
      </p:sp>
      <p:sp>
        <p:nvSpPr>
          <p:cNvPr id="343" name="Google Shape;343;p9"/>
          <p:cNvSpPr txBox="1"/>
          <p:nvPr/>
        </p:nvSpPr>
        <p:spPr>
          <a:xfrm>
            <a:off x="685800" y="568756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Fraud explanation pattern  ·  Prompt-as-asset  ·  Explainability approach  ·  Cross-functional squad model</a:t>
            </a:r>
            <a:endParaRPr/>
          </a:p>
        </p:txBody>
      </p:sp>
      <p:sp>
        <p:nvSpPr>
          <p:cNvPr id="344" name="Google Shape;344;p9"/>
          <p:cNvSpPr txBox="1"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use case without a KPI is a wish, not a project.</a:t>
            </a:r>
            <a:endParaRPr/>
          </a:p>
        </p:txBody>
      </p:sp>
      <p:sp>
        <p:nvSpPr>
          <p:cNvPr id="345" name="Google Shape;345;p9"/>
          <p:cNvSpPr txBox="1"/>
          <p:nvPr/>
        </p:nvSpPr>
        <p:spPr>
          <a:xfrm>
            <a:off x="11100000" y="6450000"/>
            <a:ext cx="8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13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"/>
          <p:cNvSpPr/>
          <p:nvPr/>
        </p:nvSpPr>
        <p:spPr>
          <a:xfrm>
            <a:off x="457200" y="320040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457200" y="320040"/>
            <a:ext cx="4572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621792" y="347472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PHASE 04  —  DEVELOP</a:t>
            </a:r>
            <a:endParaRPr/>
          </a:p>
        </p:txBody>
      </p:sp>
      <p:sp>
        <p:nvSpPr>
          <p:cNvPr id="353" name="Google Shape;353;p10"/>
          <p:cNvSpPr txBox="1"/>
          <p:nvPr/>
        </p:nvSpPr>
        <p:spPr>
          <a:xfrm>
            <a:off x="457200" y="896112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 build in phases — not all at once.</a:t>
            </a:r>
            <a:endParaRPr/>
          </a:p>
        </p:txBody>
      </p:sp>
      <p:sp>
        <p:nvSpPr>
          <p:cNvPr id="354" name="Google Shape;354;p10"/>
          <p:cNvSpPr txBox="1"/>
          <p:nvPr/>
        </p:nvSpPr>
        <p:spPr>
          <a:xfrm>
            <a:off x="457200" y="1444752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DBIM principle: start with the minimum that proves the idea works. Then add value.</a:t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457200" y="1993392"/>
            <a:ext cx="3703320" cy="45262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57200" y="1993392"/>
            <a:ext cx="37033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640080" y="2103120"/>
            <a:ext cx="3337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/>
          </a:p>
        </p:txBody>
      </p:sp>
      <p:sp>
        <p:nvSpPr>
          <p:cNvPr id="358" name="Google Shape;358;p10"/>
          <p:cNvSpPr txBox="1"/>
          <p:nvPr/>
        </p:nvSpPr>
        <p:spPr>
          <a:xfrm>
            <a:off x="640080" y="2724912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b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Acceptable</a:t>
            </a:r>
            <a:b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359" name="Google Shape;359;p10"/>
          <p:cNvSpPr txBox="1"/>
          <p:nvPr/>
        </p:nvSpPr>
        <p:spPr>
          <a:xfrm>
            <a:off x="640080" y="3611880"/>
            <a:ext cx="333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Sprint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1–2</a:t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640080" y="3977639"/>
            <a:ext cx="3310128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594360" y="419709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777240" y="4096512"/>
            <a:ext cx="340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transaction in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one explanation out</a:t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594360" y="4672583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 txBox="1"/>
          <p:nvPr/>
        </p:nvSpPr>
        <p:spPr>
          <a:xfrm>
            <a:off x="777240" y="4572000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Analyst can see why a flag was raised</a:t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594360" y="5148071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 txBox="1"/>
          <p:nvPr/>
        </p:nvSpPr>
        <p:spPr>
          <a:xfrm>
            <a:off x="777240" y="5047488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Proves the core idea is viable</a:t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594360" y="562355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 txBox="1"/>
          <p:nvPr/>
        </p:nvSpPr>
        <p:spPr>
          <a:xfrm>
            <a:off x="777240" y="5522975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Nothing more. Just the loop.</a:t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4370832" y="1993392"/>
            <a:ext cx="3703320" cy="45262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370832" y="1993392"/>
            <a:ext cx="37033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 txBox="1"/>
          <p:nvPr/>
        </p:nvSpPr>
        <p:spPr>
          <a:xfrm>
            <a:off x="4553712" y="2103120"/>
            <a:ext cx="3337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MLP</a:t>
            </a:r>
            <a:endParaRPr/>
          </a:p>
        </p:txBody>
      </p:sp>
      <p:sp>
        <p:nvSpPr>
          <p:cNvPr id="372" name="Google Shape;372;p10"/>
          <p:cNvSpPr txBox="1"/>
          <p:nvPr/>
        </p:nvSpPr>
        <p:spPr>
          <a:xfrm>
            <a:off x="4553712" y="2724912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b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Lovable</a:t>
            </a:r>
            <a:b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373" name="Google Shape;373;p10"/>
          <p:cNvSpPr txBox="1"/>
          <p:nvPr/>
        </p:nvSpPr>
        <p:spPr>
          <a:xfrm>
            <a:off x="4553712" y="3611880"/>
            <a:ext cx="333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Sprint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3–5</a:t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4553712" y="3977639"/>
            <a:ext cx="3310128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4507992" y="4197096"/>
            <a:ext cx="73152" cy="7315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 txBox="1"/>
          <p:nvPr/>
        </p:nvSpPr>
        <p:spPr>
          <a:xfrm>
            <a:off x="4690872" y="4096512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Analyst interface is live in the sandbox</a:t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4507992" y="4672583"/>
            <a:ext cx="73152" cy="7315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 txBox="1"/>
          <p:nvPr/>
        </p:nvSpPr>
        <p:spPr>
          <a:xfrm>
            <a:off x="4690872" y="4572000"/>
            <a:ext cx="340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Risk level visible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not just a number</a:t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4507992" y="5148071"/>
            <a:ext cx="73152" cy="7315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 txBox="1"/>
          <p:nvPr/>
        </p:nvSpPr>
        <p:spPr>
          <a:xfrm>
            <a:off x="4690872" y="5047488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Comparable case context shown</a:t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4507992" y="5623559"/>
            <a:ext cx="73152" cy="7315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 txBox="1"/>
          <p:nvPr/>
        </p:nvSpPr>
        <p:spPr>
          <a:xfrm>
            <a:off x="4690872" y="5522975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Someone uses it and says: 'this is useful'</a:t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8284464" y="1993392"/>
            <a:ext cx="3703320" cy="45262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8284464" y="1993392"/>
            <a:ext cx="37033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 txBox="1"/>
          <p:nvPr/>
        </p:nvSpPr>
        <p:spPr>
          <a:xfrm>
            <a:off x="8467344" y="2103120"/>
            <a:ext cx="3337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MMP</a:t>
            </a:r>
            <a:endParaRPr/>
          </a:p>
        </p:txBody>
      </p:sp>
      <p:sp>
        <p:nvSpPr>
          <p:cNvPr id="386" name="Google Shape;386;p10"/>
          <p:cNvSpPr txBox="1"/>
          <p:nvPr/>
        </p:nvSpPr>
        <p:spPr>
          <a:xfrm>
            <a:off x="8467344" y="2724912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b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Marketable</a:t>
            </a:r>
            <a:b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387" name="Google Shape;387;p10"/>
          <p:cNvSpPr txBox="1"/>
          <p:nvPr/>
        </p:nvSpPr>
        <p:spPr>
          <a:xfrm>
            <a:off x="8467344" y="3611880"/>
            <a:ext cx="333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Sprint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6–8</a:t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8467344" y="3977639"/>
            <a:ext cx="3310128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8421624" y="419709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 txBox="1"/>
          <p:nvPr/>
        </p:nvSpPr>
        <p:spPr>
          <a:xfrm>
            <a:off x="8604504" y="4096512"/>
            <a:ext cx="340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Decision logging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every verdict captured</a:t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8421624" y="4672583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 txBox="1"/>
          <p:nvPr/>
        </p:nvSpPr>
        <p:spPr>
          <a:xfrm>
            <a:off x="8604504" y="4572000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Anchoring bias safeguards active</a:t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8421624" y="5148071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 txBox="1"/>
          <p:nvPr/>
        </p:nvSpPr>
        <p:spPr>
          <a:xfrm>
            <a:off x="8604504" y="5047488"/>
            <a:ext cx="340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Override rate tracked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trusted too much?</a:t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8421624" y="562355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 txBox="1"/>
          <p:nvPr/>
        </p:nvSpPr>
        <p:spPr>
          <a:xfrm>
            <a:off x="8604504" y="5522975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Stakeholder demo ready</a:t>
            </a:r>
            <a:endParaRPr/>
          </a:p>
        </p:txBody>
      </p:sp>
      <p:sp>
        <p:nvSpPr>
          <p:cNvPr id="397" name="Google Shape;397;p10"/>
          <p:cNvSpPr txBox="1"/>
          <p:nvPr/>
        </p:nvSpPr>
        <p:spPr>
          <a:xfrm>
            <a:off x="457200" y="658368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Ship the loop first. Everything else is optimization.</a:t>
            </a:r>
            <a:endParaRPr/>
          </a:p>
        </p:txBody>
      </p:sp>
      <p:sp>
        <p:nvSpPr>
          <p:cNvPr id="398" name="Google Shape;398;p10"/>
          <p:cNvSpPr txBox="1"/>
          <p:nvPr/>
        </p:nvSpPr>
        <p:spPr>
          <a:xfrm>
            <a:off x="11100000" y="6450000"/>
            <a:ext cx="8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1"/>
          <p:cNvSpPr/>
          <p:nvPr/>
        </p:nvSpPr>
        <p:spPr>
          <a:xfrm>
            <a:off x="457200" y="32004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457200" y="320040"/>
            <a:ext cx="4572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 txBox="1"/>
          <p:nvPr/>
        </p:nvSpPr>
        <p:spPr>
          <a:xfrm>
            <a:off x="621792" y="347472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PHASE 05  —  DEPLOY &amp; SCALE</a:t>
            </a:r>
            <a:endParaRPr/>
          </a:p>
        </p:txBody>
      </p:sp>
      <p:sp>
        <p:nvSpPr>
          <p:cNvPr id="406" name="Google Shape;406;p11"/>
          <p:cNvSpPr txBox="1"/>
          <p:nvPr/>
        </p:nvSpPr>
        <p:spPr>
          <a:xfrm>
            <a:off x="457200" y="89611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Deploying is not the finish line. It is where the feedback loop begins.</a:t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457200" y="1572768"/>
            <a:ext cx="5349240" cy="4370832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457200" y="1572768"/>
            <a:ext cx="45720" cy="43708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 txBox="1"/>
          <p:nvPr/>
        </p:nvSpPr>
        <p:spPr>
          <a:xfrm>
            <a:off x="658368" y="166420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DEPLOY — How we go live</a:t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621792" y="225856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 txBox="1"/>
          <p:nvPr/>
        </p:nvSpPr>
        <p:spPr>
          <a:xfrm>
            <a:off x="804672" y="2157984"/>
            <a:ext cx="504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Code pushed to Bitbucket </a:t>
            </a:r>
            <a:r>
              <a:rPr lang="en-US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governed repository</a:t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621792" y="273405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 txBox="1"/>
          <p:nvPr/>
        </p:nvSpPr>
        <p:spPr>
          <a:xfrm>
            <a:off x="804672" y="2633472"/>
            <a:ext cx="5047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Calibo CI/CD pipeline triggers automatically</a:t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621792" y="320954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 txBox="1"/>
          <p:nvPr/>
        </p:nvSpPr>
        <p:spPr>
          <a:xfrm>
            <a:off x="804672" y="3108960"/>
            <a:ext cx="5047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Backend verified live before frontend connects</a:t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621792" y="368503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 txBox="1"/>
          <p:nvPr/>
        </p:nvSpPr>
        <p:spPr>
          <a:xfrm>
            <a:off x="804672" y="3584448"/>
            <a:ext cx="504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change goes through the pipeline </a:t>
            </a:r>
            <a:r>
              <a:rPr lang="en-US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no shortcuts</a:t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621792" y="416052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 txBox="1"/>
          <p:nvPr/>
        </p:nvSpPr>
        <p:spPr>
          <a:xfrm>
            <a:off x="804672" y="4059936"/>
            <a:ext cx="5047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Governance built in, not bolted on</a:t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6382512" y="1572768"/>
            <a:ext cx="5349240" cy="4370832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6382512" y="1572768"/>
            <a:ext cx="45720" cy="43708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 txBox="1"/>
          <p:nvPr/>
        </p:nvSpPr>
        <p:spPr>
          <a:xfrm>
            <a:off x="6565392" y="166420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SCALE — What happens after launch</a:t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6510528" y="2258568"/>
            <a:ext cx="73152" cy="7315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 txBox="1"/>
          <p:nvPr/>
        </p:nvSpPr>
        <p:spPr>
          <a:xfrm>
            <a:off x="6693408" y="2157984"/>
            <a:ext cx="507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Analyst verdicts logged </a:t>
            </a:r>
            <a:r>
              <a:rPr lang="en-US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every decision captured</a:t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6510528" y="2734056"/>
            <a:ext cx="73152" cy="7315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 txBox="1"/>
          <p:nvPr/>
        </p:nvSpPr>
        <p:spPr>
          <a:xfrm>
            <a:off x="6693408" y="2633472"/>
            <a:ext cx="507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Override rate monitored </a:t>
            </a:r>
            <a:r>
              <a:rPr lang="en-US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are analysts over-trusting AI?</a:t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6510528" y="3209544"/>
            <a:ext cx="73152" cy="7315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 txBox="1"/>
          <p:nvPr/>
        </p:nvSpPr>
        <p:spPr>
          <a:xfrm>
            <a:off x="6693408" y="3108960"/>
            <a:ext cx="5074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Base rate accuracy improves with real decisions</a:t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6510528" y="3685032"/>
            <a:ext cx="73152" cy="7315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 txBox="1"/>
          <p:nvPr/>
        </p:nvSpPr>
        <p:spPr>
          <a:xfrm>
            <a:off x="6693408" y="3584448"/>
            <a:ext cx="5074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Explanation quality validated by senior analysts</a:t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6510528" y="4160520"/>
            <a:ext cx="73152" cy="7315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 txBox="1"/>
          <p:nvPr/>
        </p:nvSpPr>
        <p:spPr>
          <a:xfrm>
            <a:off x="6693408" y="4059936"/>
            <a:ext cx="5074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 case published to DBIM Internal Marketplace</a:t>
            </a:r>
            <a:endParaRPr/>
          </a:p>
        </p:txBody>
      </p:sp>
      <p:sp>
        <p:nvSpPr>
          <p:cNvPr id="433" name="Google Shape;433;p11"/>
          <p:cNvSpPr txBox="1"/>
          <p:nvPr/>
        </p:nvSpPr>
        <p:spPr>
          <a:xfrm>
            <a:off x="457200" y="6236208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Governance is not overhead. It is the product.</a:t>
            </a:r>
            <a:endParaRPr/>
          </a:p>
        </p:txBody>
      </p:sp>
      <p:sp>
        <p:nvSpPr>
          <p:cNvPr id="434" name="Google Shape;434;p11"/>
          <p:cNvSpPr txBox="1"/>
          <p:nvPr/>
        </p:nvSpPr>
        <p:spPr>
          <a:xfrm>
            <a:off x="11100000" y="6450000"/>
            <a:ext cx="8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/ 13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2"/>
          <p:cNvSpPr/>
          <p:nvPr/>
        </p:nvSpPr>
        <p:spPr>
          <a:xfrm>
            <a:off x="457200" y="320040"/>
            <a:ext cx="4572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 txBox="1"/>
          <p:nvPr/>
        </p:nvSpPr>
        <p:spPr>
          <a:xfrm>
            <a:off x="621792" y="338328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OUR CROSS-FUNCTIONAL SQUAD</a:t>
            </a:r>
            <a:endParaRPr/>
          </a:p>
        </p:txBody>
      </p:sp>
      <p:sp>
        <p:nvSpPr>
          <p:cNvPr id="441" name="Google Shape;441;p12"/>
          <p:cNvSpPr txBox="1"/>
          <p:nvPr/>
        </p:nvSpPr>
        <p:spPr>
          <a:xfrm>
            <a:off x="658368" y="777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Three DBIM roles. One use case. One shared outcome.</a:t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457200" y="1463040"/>
            <a:ext cx="3703320" cy="5138928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457200" y="1463040"/>
            <a:ext cx="370332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1755648" y="1920240"/>
            <a:ext cx="1097280" cy="1097280"/>
          </a:xfrm>
          <a:prstGeom prst="ellipse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1755648" y="2066543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446" name="Google Shape;446;p12"/>
          <p:cNvSpPr txBox="1"/>
          <p:nvPr/>
        </p:nvSpPr>
        <p:spPr>
          <a:xfrm>
            <a:off x="566928" y="320040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Ega Lakshmi Pravalika</a:t>
            </a:r>
            <a:endParaRPr/>
          </a:p>
        </p:txBody>
      </p:sp>
      <p:sp>
        <p:nvSpPr>
          <p:cNvPr id="447" name="Google Shape;447;p12"/>
          <p:cNvSpPr txBox="1"/>
          <p:nvPr/>
        </p:nvSpPr>
        <p:spPr>
          <a:xfrm>
            <a:off x="566928" y="360273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AI/ML Engineer</a:t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960120" y="3977639"/>
            <a:ext cx="269748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 txBox="1"/>
          <p:nvPr/>
        </p:nvSpPr>
        <p:spPr>
          <a:xfrm>
            <a:off x="960120" y="3995928"/>
            <a:ext cx="269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Use Case </a:t>
            </a:r>
            <a:r>
              <a:rPr b="1" lang="en-US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658368" y="451713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 txBox="1"/>
          <p:nvPr/>
        </p:nvSpPr>
        <p:spPr>
          <a:xfrm>
            <a:off x="822960" y="4416552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Owns the business outcome</a:t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658368" y="4901183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 txBox="1"/>
          <p:nvPr/>
        </p:nvSpPr>
        <p:spPr>
          <a:xfrm>
            <a:off x="822960" y="4800600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Defines KPIs and value hypothesis</a:t>
            </a: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658368" y="5285231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 txBox="1"/>
          <p:nvPr/>
        </p:nvSpPr>
        <p:spPr>
          <a:xfrm>
            <a:off x="822960" y="5184648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Validates explanations against analyst needs</a:t>
            </a: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658368" y="566927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 txBox="1"/>
          <p:nvPr/>
        </p:nvSpPr>
        <p:spPr>
          <a:xfrm>
            <a:off x="822960" y="5568696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Leads squad alignment and standup</a:t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4370832" y="1463040"/>
            <a:ext cx="3703320" cy="5138928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4370832" y="1463040"/>
            <a:ext cx="3703320" cy="347472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5669280" y="1920240"/>
            <a:ext cx="1097280" cy="1097280"/>
          </a:xfrm>
          <a:prstGeom prst="ellipse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 txBox="1"/>
          <p:nvPr/>
        </p:nvSpPr>
        <p:spPr>
          <a:xfrm>
            <a:off x="5669280" y="2066543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62" name="Google Shape;462;p12"/>
          <p:cNvSpPr txBox="1"/>
          <p:nvPr/>
        </p:nvSpPr>
        <p:spPr>
          <a:xfrm>
            <a:off x="4480560" y="320040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Goriparthi Bhanu Teja</a:t>
            </a:r>
            <a:endParaRPr/>
          </a:p>
        </p:txBody>
      </p:sp>
      <p:sp>
        <p:nvSpPr>
          <p:cNvPr id="463" name="Google Shape;463;p12"/>
          <p:cNvSpPr txBox="1"/>
          <p:nvPr/>
        </p:nvSpPr>
        <p:spPr>
          <a:xfrm>
            <a:off x="4480560" y="360273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Backend &amp; Project Lead</a:t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4873752" y="3977639"/>
            <a:ext cx="2697480" cy="3200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 txBox="1"/>
          <p:nvPr/>
        </p:nvSpPr>
        <p:spPr>
          <a:xfrm>
            <a:off x="4873752" y="399592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Technical Delivery Lead</a:t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4572000" y="451713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 txBox="1"/>
          <p:nvPr/>
        </p:nvSpPr>
        <p:spPr>
          <a:xfrm>
            <a:off x="4736592" y="4416552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Manages use case delivery timeline</a:t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4572000" y="4901183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 txBox="1"/>
          <p:nvPr/>
        </p:nvSpPr>
        <p:spPr>
          <a:xfrm>
            <a:off x="4736592" y="4800600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Ensures backend is live before UI connects</a:t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4572000" y="5285231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 txBox="1"/>
          <p:nvPr/>
        </p:nvSpPr>
        <p:spPr>
          <a:xfrm>
            <a:off x="4736592" y="5184648"/>
            <a:ext cx="318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Owns quality </a:t>
            </a: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testing happens before pushing</a:t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4572000" y="566927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 txBox="1"/>
          <p:nvPr/>
        </p:nvSpPr>
        <p:spPr>
          <a:xfrm>
            <a:off x="4736592" y="5568696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Governs the CI/CD pipeline discipline</a:t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8284464" y="1463040"/>
            <a:ext cx="3703200" cy="51390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8284464" y="1463040"/>
            <a:ext cx="370332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9582912" y="1920240"/>
            <a:ext cx="1097280" cy="1097280"/>
          </a:xfrm>
          <a:prstGeom prst="ellipse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 txBox="1"/>
          <p:nvPr/>
        </p:nvSpPr>
        <p:spPr>
          <a:xfrm>
            <a:off x="9582912" y="2066543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478" name="Google Shape;478;p12"/>
          <p:cNvSpPr txBox="1"/>
          <p:nvPr/>
        </p:nvSpPr>
        <p:spPr>
          <a:xfrm>
            <a:off x="8394192" y="320040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Gurivi Reddy Yasaswini</a:t>
            </a:r>
            <a:endParaRPr/>
          </a:p>
        </p:txBody>
      </p:sp>
      <p:sp>
        <p:nvSpPr>
          <p:cNvPr id="479" name="Google Shape;479;p12"/>
          <p:cNvSpPr txBox="1"/>
          <p:nvPr/>
        </p:nvSpPr>
        <p:spPr>
          <a:xfrm>
            <a:off x="8394192" y="360273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Frontend / Integration</a:t>
            </a: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8787384" y="3977639"/>
            <a:ext cx="2697480" cy="3200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 txBox="1"/>
          <p:nvPr/>
        </p:nvSpPr>
        <p:spPr>
          <a:xfrm>
            <a:off x="8787384" y="399592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UX &amp; Deployment Engineer</a:t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8485632" y="451713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 txBox="1"/>
          <p:nvPr/>
        </p:nvSpPr>
        <p:spPr>
          <a:xfrm>
            <a:off x="8650224" y="4416552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Builds the analyst-facing interface</a:t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8485632" y="4901183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 txBox="1"/>
          <p:nvPr/>
        </p:nvSpPr>
        <p:spPr>
          <a:xfrm>
            <a:off x="8650224" y="4800600"/>
            <a:ext cx="318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Ensures explanation is readable </a:t>
            </a: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not just correct</a:t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8485632" y="5285231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 txBox="1"/>
          <p:nvPr/>
        </p:nvSpPr>
        <p:spPr>
          <a:xfrm>
            <a:off x="8650224" y="5184648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Connects frontend to live backend post-verification</a:t>
            </a:r>
            <a:endParaRPr/>
          </a:p>
        </p:txBody>
      </p:sp>
      <p:sp>
        <p:nvSpPr>
          <p:cNvPr id="488" name="Google Shape;488;p12"/>
          <p:cNvSpPr/>
          <p:nvPr/>
        </p:nvSpPr>
        <p:spPr>
          <a:xfrm>
            <a:off x="8485632" y="566927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 txBox="1"/>
          <p:nvPr/>
        </p:nvSpPr>
        <p:spPr>
          <a:xfrm>
            <a:off x="8650224" y="5568696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Monitors post-launch override rates</a:t>
            </a:r>
            <a:endParaRPr/>
          </a:p>
        </p:txBody>
      </p:sp>
      <p:sp>
        <p:nvSpPr>
          <p:cNvPr id="490" name="Google Shape;490;p12"/>
          <p:cNvSpPr txBox="1"/>
          <p:nvPr/>
        </p:nvSpPr>
        <p:spPr>
          <a:xfrm>
            <a:off x="502925" y="6601975"/>
            <a:ext cx="95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squad, one outcome, zero silos.</a:t>
            </a:r>
            <a:endParaRPr/>
          </a:p>
        </p:txBody>
      </p:sp>
      <p:sp>
        <p:nvSpPr>
          <p:cNvPr id="491" name="Google Shape;491;p12"/>
          <p:cNvSpPr txBox="1"/>
          <p:nvPr/>
        </p:nvSpPr>
        <p:spPr>
          <a:xfrm>
            <a:off x="11091775" y="6325950"/>
            <a:ext cx="82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/ 13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3"/>
          <p:cNvSpPr/>
          <p:nvPr/>
        </p:nvSpPr>
        <p:spPr>
          <a:xfrm>
            <a:off x="8046720" y="-731520"/>
            <a:ext cx="5486400" cy="5486400"/>
          </a:xfrm>
          <a:prstGeom prst="ellipse">
            <a:avLst/>
          </a:prstGeom>
          <a:solidFill>
            <a:srgbClr val="9FC5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9326880" y="3657600"/>
            <a:ext cx="3474720" cy="3474720"/>
          </a:xfrm>
          <a:prstGeom prst="ellipse">
            <a:avLst/>
          </a:prstGeom>
          <a:solidFill>
            <a:srgbClr val="A4C2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 txBox="1"/>
          <p:nvPr/>
        </p:nvSpPr>
        <p:spPr>
          <a:xfrm>
            <a:off x="457200" y="457200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DBIM IN ACTION</a:t>
            </a:r>
            <a:endParaRPr/>
          </a:p>
        </p:txBody>
      </p:sp>
      <p:sp>
        <p:nvSpPr>
          <p:cNvPr id="500" name="Google Shape;500;p13"/>
          <p:cNvSpPr txBox="1"/>
          <p:nvPr/>
        </p:nvSpPr>
        <p:spPr>
          <a:xfrm>
            <a:off x="457200" y="960120"/>
            <a:ext cx="84124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Not a tech project.</a:t>
            </a:r>
            <a:br>
              <a:rPr b="1" i="0" lang="en-US" sz="4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 innovation</a:t>
            </a:r>
            <a:br>
              <a:rPr b="1" i="0" lang="en-US" sz="4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pipeline.</a:t>
            </a:r>
            <a:endParaRPr/>
          </a:p>
        </p:txBody>
      </p:sp>
      <p:sp>
        <p:nvSpPr>
          <p:cNvPr id="501" name="Google Shape;501;p13"/>
          <p:cNvSpPr/>
          <p:nvPr/>
        </p:nvSpPr>
        <p:spPr>
          <a:xfrm>
            <a:off x="457200" y="424281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 txBox="1"/>
          <p:nvPr/>
        </p:nvSpPr>
        <p:spPr>
          <a:xfrm>
            <a:off x="658368" y="414223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Business outcome defined before a single line of code</a:t>
            </a:r>
            <a:endParaRPr/>
          </a:p>
        </p:txBody>
      </p:sp>
      <p:sp>
        <p:nvSpPr>
          <p:cNvPr id="503" name="Google Shape;503;p13"/>
          <p:cNvSpPr/>
          <p:nvPr/>
        </p:nvSpPr>
        <p:spPr>
          <a:xfrm>
            <a:off x="457200" y="4672583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 txBox="1"/>
          <p:nvPr/>
        </p:nvSpPr>
        <p:spPr>
          <a:xfrm>
            <a:off x="658368" y="4572000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5 pre-code questions answered on Day 1</a:t>
            </a:r>
            <a:endParaRPr/>
          </a:p>
        </p:txBody>
      </p:sp>
      <p:sp>
        <p:nvSpPr>
          <p:cNvPr id="505" name="Google Shape;505;p13"/>
          <p:cNvSpPr/>
          <p:nvPr/>
        </p:nvSpPr>
        <p:spPr>
          <a:xfrm>
            <a:off x="457200" y="5102351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 txBox="1"/>
          <p:nvPr/>
        </p:nvSpPr>
        <p:spPr>
          <a:xfrm>
            <a:off x="658368" y="5001768"/>
            <a:ext cx="777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8 –10 sprints </a:t>
            </a:r>
            <a:r>
              <a:rPr lang="en-US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concept to deployed product</a:t>
            </a:r>
            <a:endParaRPr/>
          </a:p>
        </p:txBody>
      </p:sp>
      <p:sp>
        <p:nvSpPr>
          <p:cNvPr id="507" name="Google Shape;507;p13"/>
          <p:cNvSpPr/>
          <p:nvPr/>
        </p:nvSpPr>
        <p:spPr>
          <a:xfrm>
            <a:off x="457200" y="553211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 txBox="1"/>
          <p:nvPr/>
        </p:nvSpPr>
        <p:spPr>
          <a:xfrm>
            <a:off x="658368" y="5431536"/>
            <a:ext cx="777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Human always decides </a:t>
            </a:r>
            <a:r>
              <a:rPr lang="en-US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AI explains, never blocks</a:t>
            </a:r>
            <a:endParaRPr/>
          </a:p>
        </p:txBody>
      </p:sp>
      <p:sp>
        <p:nvSpPr>
          <p:cNvPr id="509" name="Google Shape;509;p13"/>
          <p:cNvSpPr/>
          <p:nvPr/>
        </p:nvSpPr>
        <p:spPr>
          <a:xfrm>
            <a:off x="457200" y="5961887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 txBox="1"/>
          <p:nvPr/>
        </p:nvSpPr>
        <p:spPr>
          <a:xfrm>
            <a:off x="658368" y="5861303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asset built here is reusable across the enterprise</a:t>
            </a:r>
            <a:endParaRPr/>
          </a:p>
        </p:txBody>
      </p:sp>
      <p:sp>
        <p:nvSpPr>
          <p:cNvPr id="511" name="Google Shape;511;p13"/>
          <p:cNvSpPr txBox="1"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Fraud Pattern Explainer  ·  BFSI Innovation  ·  Team 6  ·  Calibo DBIM 2026</a:t>
            </a:r>
            <a:endParaRPr/>
          </a:p>
        </p:txBody>
      </p:sp>
      <p:sp>
        <p:nvSpPr>
          <p:cNvPr id="512" name="Google Shape;512;p13"/>
          <p:cNvSpPr/>
          <p:nvPr/>
        </p:nvSpPr>
        <p:spPr>
          <a:xfrm>
            <a:off x="7675655" y="2103213"/>
            <a:ext cx="3474600" cy="3474600"/>
          </a:xfrm>
          <a:prstGeom prst="ellipse">
            <a:avLst/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